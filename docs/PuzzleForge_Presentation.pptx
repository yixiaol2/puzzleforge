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8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PuzzleForge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606040"/>
            <a:ext cx="27432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Calibri"/>
              </a:defRPr>
            </a:pPr>
            <a:r>
              <a:t>Agentic Puzzle Game Design and Generation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54864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Yixiao Li  ·  Kaizhen Tan  ·  Hanzhe Hong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4114800"/>
            <a:ext cx="411480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/>
              </a:defRPr>
            </a:pPr>
            <a: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5720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94-815 Agentic Systems Studio</a:t>
            </a:r>
            <a:br/>
            <a:r>
              <a:t>CMU Heinz College  ·  Spring 2026</a:t>
            </a:r>
            <a:br/>
            <a:r>
              <a:t>Track A: Technical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0">
                <a:solidFill>
                  <a:srgbClr val="FFFFFF"/>
                </a:solidFill>
                <a:latin typeface="Calibri"/>
              </a:defRPr>
            </a:pPr>
            <a:r>
              <a:t>🤖📦🔷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rPr dirty="0"/>
              <a:t>Why is this hard?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Designing solvable puzzle games requires
both creativity and correctness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LLMs can generate creative layouts but
cannot verify solvability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A single LLM has no way to know if a
puzzle is actually solvable -- it can only guess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0D2FF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Slide mechanics are especially hard:
LLMs achieve only 30% solvability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Separate creative design from
automated verification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5 coordinated agents across two layers
(Design + Implementation)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BFS solver provides ground-truth
solvability -- never trust LLM judgment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ECC71"/>
                </a:solidFill>
                <a:latin typeface="Calibri"/>
              </a:rPr>
              <a:t>   ▸  </a:t>
            </a:r>
            <a:r>
              <a:rPr sz="1600">
                <a:solidFill>
                  <a:srgbClr val="FFFFFF"/>
                </a:solidFill>
                <a:latin typeface="Calibri"/>
              </a:rPr>
              <a:t>Iterative debug loop catches and fixes
unsolvable levels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Five Coordinated Agents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Game Designer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463040" cy="32004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Design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LLM (temp 0.8)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Chooses push/slide mechanic</a:t>
            </a:r>
            <a:br/>
            <a:r>
              <a:t>Designs visual theme &amp; emojis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463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Level Designer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514600"/>
            <a:ext cx="1463040" cy="32004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Design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LLM (temp 0.7)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3832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Creates grid layouts</a:t>
            </a:r>
            <a:br/>
            <a:r>
              <a:t>Slide-specific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01168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1463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Developer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2514600"/>
            <a:ext cx="1463040" cy="320040"/>
          </a:xfrm>
          <a:prstGeom prst="roundRect">
            <a:avLst/>
          </a:prstGeom>
          <a:solidFill>
            <a:srgbClr val="54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Translates designs to config</a:t>
            </a:r>
            <a:br/>
            <a:r>
              <a:t>Routes failures (10 criteria)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371600"/>
            <a:ext cx="201168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1463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QA Tester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514600"/>
            <a:ext cx="1463040" cy="320040"/>
          </a:xfrm>
          <a:prstGeom prst="roundRect">
            <a:avLst/>
          </a:prstGeom>
          <a:solidFill>
            <a:srgbClr val="54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BFS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3832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Verifies solvability</a:t>
            </a:r>
            <a:br/>
            <a:r>
              <a:t>Difficulty &amp; diversity checks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371600"/>
            <a:ext cx="201168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0" y="1463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Debugger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2514600"/>
            <a:ext cx="1463040" cy="32004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LLM (temp 0.3)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38328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Minimal config fixes</a:t>
            </a:r>
            <a:br/>
            <a:r>
              <a:t>25% tile change threshold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645920" cy="822960"/>
          </a:xfrm>
          <a:prstGeom prst="roundRect">
            <a:avLst/>
          </a:prstGeom>
          <a:solidFill>
            <a:srgbClr val="8888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164592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Game</a:t>
            </a:r>
            <a:br/>
            <a:r>
              <a:t>Designer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1645920" cy="82296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Level</a:t>
            </a:r>
            <a:br/>
            <a:r>
              <a:t>Designer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1645920" cy="822960"/>
          </a:xfrm>
          <a:prstGeom prst="roundRect">
            <a:avLst/>
          </a:prstGeom>
          <a:solidFill>
            <a:srgbClr val="54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828800"/>
            <a:ext cx="1645920" cy="822960"/>
          </a:xfrm>
          <a:prstGeom prst="roundRect">
            <a:avLst/>
          </a:prstGeom>
          <a:solidFill>
            <a:srgbClr val="545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QA Tester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0" y="1828800"/>
            <a:ext cx="1645920" cy="82296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Finalize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65960" y="2103120"/>
            <a:ext cx="27432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977640" y="2103120"/>
            <a:ext cx="27432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5989320" y="2103120"/>
            <a:ext cx="27432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001000" y="2103120"/>
            <a:ext cx="27432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10012680" y="2103120"/>
            <a:ext cx="274320" cy="27432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669280" cy="2926080"/>
          </a:xfrm>
          <a:prstGeom prst="roundRect">
            <a:avLst/>
          </a:prstGeom>
          <a:solidFill>
            <a:srgbClr val="1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Calibri"/>
              </a:defRPr>
            </a:pPr>
            <a:r>
              <a:t>Debug Feedback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3840480"/>
            <a:ext cx="2560320" cy="64008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Debugger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72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Config bugs (C1-C5)</a:t>
            </a:r>
            <a:br/>
            <a:r>
              <a:t>LLM temp 0.3, minimal fixes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840480"/>
            <a:ext cx="2560320" cy="640080"/>
          </a:xfrm>
          <a:prstGeom prst="round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Level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572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Design flaws (D1-D5)</a:t>
            </a:r>
            <a:br/>
            <a:r>
              <a:t>Redesign with solver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200400"/>
            <a:ext cx="5669280" cy="2926080"/>
          </a:xfrm>
          <a:prstGeom prst="roundRect">
            <a:avLst/>
          </a:prstGeom>
          <a:solidFill>
            <a:srgbClr val="1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Key Design Principle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Deterministic where possible,
LLM where necessary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Solvability verified by BFS solver,
not LLM judgment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10 routing criteria -- all code, no LLM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Max 3 debug cycles, 80K token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Two Mechanics, </a:t>
            </a:r>
            <a:r>
              <a:rPr lang="en-US" dirty="0"/>
              <a:t>Multiple</a:t>
            </a:r>
            <a:r>
              <a:rPr dirty="0"/>
              <a:t> Themes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PUSH MECHANIC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Box moves exactly 1 tile in push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Standard Sokoban physics. LLMs handle this well.</a:t>
            </a:r>
            <a:br/>
            <a:r>
              <a:t>Pipeline solvability: 90%  |  Baseline: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94560"/>
                </a:solidFill>
                <a:latin typeface="Calibri"/>
              </a:defRPr>
            </a:pPr>
            <a:r>
              <a:t>SLIDE MECHANIC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Box slides until hitting a wall or another 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Ice puzzle physics. LLMs struggle with spatial reasoning.</a:t>
            </a:r>
            <a:br/>
            <a:r>
              <a:t>Pipeline solvability: 71%  |  Baseline: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Visual Themes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Game Designer selects theme based on concept. Each game gets unique emoji icons, color scheme, and entity names.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2011680" cy="1097280"/>
          </a:xfrm>
          <a:prstGeom prst="roundRect">
            <a:avLst/>
          </a:prstGeom>
          <a:solidFill>
            <a:srgbClr val="0F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4937760"/>
            <a:ext cx="2011680" cy="1097280"/>
          </a:xfrm>
          <a:prstGeom prst="roundRect">
            <a:avLst/>
          </a:prstGeom>
          <a:solidFill>
            <a:srgbClr val="2D5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0" y="4983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Earthy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4937760"/>
            <a:ext cx="2011680" cy="1097280"/>
          </a:xfrm>
          <a:prstGeom prst="roundRect">
            <a:avLst/>
          </a:prstGeom>
          <a:solidFill>
            <a:srgbClr val="1A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4983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937760"/>
            <a:ext cx="2011680" cy="1097280"/>
          </a:xfrm>
          <a:prstGeom prst="roundRect">
            <a:avLst/>
          </a:prstGeom>
          <a:solidFill>
            <a:srgbClr val="2A0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0" y="4983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Gothic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4937760"/>
            <a:ext cx="2011680" cy="10972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0" y="4983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486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Evaluation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418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Mechanic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Solvable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Cycles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Tokens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1A2E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RUN-01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Space station cargo robot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space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4/5 (80%)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6,093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28s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RUN-02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Penguin sliding ice blocks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icy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3/4 (75%)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8,538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44s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RUN-03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Gothic dungeon gems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push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gothic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5/5 (100%)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2,969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15s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RUN-04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Zero-gravity curling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space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2/3 (67%)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8,193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36s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114800"/>
            <a:ext cx="17373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Overall</a:t>
            </a:r>
            <a:br/>
            <a:r>
              <a:t>Solvability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14/17 levels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4114800"/>
            <a:ext cx="17373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Push</a:t>
            </a:r>
            <a:br/>
            <a:r>
              <a:t>Solvability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9/10 levels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114800"/>
            <a:ext cx="17373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Slide</a:t>
            </a:r>
            <a:br/>
            <a:r>
              <a:t>Solvability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39C12"/>
                </a:solidFill>
                <a:latin typeface="Calibri"/>
              </a:defRPr>
            </a:pPr>
            <a:r>
              <a:t>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5/7 levels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17373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Pipeline</a:t>
            </a:r>
            <a:br/>
            <a:r>
              <a:t>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4/4 runs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114800"/>
            <a:ext cx="17373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Mean</a:t>
            </a:r>
            <a:br/>
            <a:r>
              <a:t>Tokens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6,448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 run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4114800"/>
            <a:ext cx="173736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0" y="4206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  <a:latin typeface="Calibri"/>
              </a:defRPr>
            </a:pPr>
            <a:r>
              <a:t>Mean</a:t>
            </a:r>
            <a:br/>
            <a:r>
              <a:t>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Calibri"/>
              </a:defRPr>
            </a:pPr>
            <a:r>
              <a:t>30.9s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6692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Baseline Comparison: Why Multi-Agent?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Single-LLM Baseline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Multi-Agent Pipeline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1A2E"/>
                          </a:solidFill>
                          <a:latin typeface="Calibri"/>
                        </a:rPr>
                        <a:t>Improvement</a:t>
                      </a:r>
                    </a:p>
                  </a:txBody>
                  <a:tcPr anchor="ctr">
                    <a:solidFill>
                      <a:srgbClr val="00D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Push solvability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100% (10/10)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90% (9/10)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comparable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Slide solvability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30% (3/10)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71% (5/7)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+41 pp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Overall solvability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65% (13/20)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82% (14/17)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+17 pp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Verified solvable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No (LLM self-report)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Yes (BFS solver)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1C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Tokens per run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1,348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6,448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Calibri"/>
                        </a:rPr>
                        <a:t>4.8x (cost of verification)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   ▸  </a:t>
            </a:r>
            <a:r>
              <a:rPr sz="1500">
                <a:solidFill>
                  <a:srgbClr val="FFFFFF"/>
                </a:solidFill>
                <a:latin typeface="Calibri"/>
              </a:rPr>
              <a:t>Debug loop more than doubles slide solvability (30% → 71%)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   ▸  </a:t>
            </a:r>
            <a:r>
              <a:rPr sz="1500">
                <a:solidFill>
                  <a:srgbClr val="FFFFFF"/>
                </a:solidFill>
                <a:latin typeface="Calibri"/>
              </a:rPr>
              <a:t>Push levels are easy for LLMs -- pipeline value is verified correctness, not higher accuracy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   ▸  </a:t>
            </a:r>
            <a:r>
              <a:rPr sz="1500">
                <a:solidFill>
                  <a:srgbClr val="FFFFFF"/>
                </a:solidFill>
                <a:latin typeface="Calibri"/>
              </a:rPr>
              <a:t>Pipeline spends ~5x more tokens, but buys solver verification + iterative repair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   ▸  </a:t>
            </a:r>
            <a:r>
              <a:rPr sz="1500">
                <a:solidFill>
                  <a:srgbClr val="FFFFFF"/>
                </a:solidFill>
                <a:latin typeface="Calibri"/>
              </a:rPr>
              <a:t>Baseline has no way to know which levels are broken -- pipeline catches every 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Failure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5212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F-004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325880"/>
            <a:ext cx="914400" cy="2743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Silent Redesign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What happened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except Exception silently</a:t>
            </a:r>
            <a:br/>
            <a:r>
              <a:t>discarded redesign output.</a:t>
            </a:r>
            <a:br/>
            <a:r>
              <a:t>3 debug cycles wasted.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Fix applied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alibri"/>
              </a:defRPr>
            </a:pPr>
            <a:r>
              <a:t>Added retry with error</a:t>
            </a:r>
            <a:br/>
            <a:r>
              <a:t>feedback prompt.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Governance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Silent failure in a feedback loop</a:t>
            </a:r>
            <a:br/>
            <a:r>
              <a:t>is worse than a crash.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39" y="1188720"/>
            <a:ext cx="3474720" cy="5212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19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F-005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39" y="1325880"/>
            <a:ext cx="914400" cy="27432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Diversity Hard-Blocking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What happened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Cosmetic diversity violation</a:t>
            </a:r>
            <a:br/>
            <a:r>
              <a:t>consumed all 3 cycles despite</a:t>
            </a:r>
            <a:br/>
            <a:r>
              <a:t>all levels being solvable.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Fix applied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19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alibri"/>
              </a:defRPr>
            </a:pPr>
            <a:r>
              <a:t>Soft-fail logic: accept if all</a:t>
            </a:r>
            <a:br/>
            <a:r>
              <a:t>levels solvable after 1 cycle.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Governance lesson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5120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Not all failures are equal.</a:t>
            </a:r>
            <a:br/>
            <a:r>
              <a:t>Severity-aware routing needed.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8" y="1188720"/>
            <a:ext cx="3474720" cy="5212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58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F-007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78" y="1325880"/>
            <a:ext cx="914400" cy="27432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8" y="1691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Slide LLM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8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What happened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8" y="246888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Slide solvability 71% vs push</a:t>
            </a:r>
            <a:br/>
            <a:r>
              <a:t>90%. LLMs can't reason about</a:t>
            </a:r>
            <a:br/>
            <a:r>
              <a:t>sliding physics reliably.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8" y="36576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Fix applied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8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alibri"/>
              </a:defRPr>
            </a:pPr>
            <a:r>
              <a:t>Slide-specific prompt guidance.</a:t>
            </a:r>
            <a:br/>
            <a:r>
              <a:t>Partially mitigated.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8" y="4846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  <a:latin typeface="Calibri"/>
              </a:defRPr>
            </a:pPr>
            <a:r>
              <a:t>Governance lesson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8" y="512064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2FF"/>
                </a:solidFill>
                <a:latin typeface="Calibri"/>
              </a:defRPr>
            </a:pPr>
            <a:r>
              <a:t>Compensate LLM weakness with</a:t>
            </a:r>
            <a:br/>
            <a:r>
              <a:t>stronger verification, not just</a:t>
            </a:r>
            <a:br/>
            <a:r>
              <a:t>better prompts.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Governance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4846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Governance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BFS solver as ground truth --
never trust LLM solvability claims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10 deterministic routing criteria --
no LLM involved in failure classification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Debugger bounded authority --
25% tile change threshold, temp 0.3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3-cycle iteration cap --
prevents infinite loops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Pydantic validation on all
inter-agent JSON communication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D2FF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Append-only trace logging --
full observability of every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4846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Key Lessons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Multi-agent systems fail in the
interaction between agents, not
in individual agents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Live testing reveals bugs that
unit tests miss -- all Phase 3 bugs
were in the feedback loop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Append-only state is great for
observability but dangerous for
decision-making (F-006)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Soft vs hard constraints must be
explicit -- cosmetic issues should
not waste debug budget (F-005)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CC71"/>
                </a:solidFill>
                <a:latin typeface="Calibri"/>
              </a:rPr>
              <a:t>   ▸  </a:t>
            </a:r>
            <a:r>
              <a:rPr sz="1400">
                <a:solidFill>
                  <a:srgbClr val="FFFFFF"/>
                </a:solidFill>
                <a:latin typeface="Calibri"/>
              </a:rPr>
              <a:t>The feedback loop is the hardest
part to get right -- and the most
valuable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28600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Calibri"/>
              </a:defRPr>
            </a:pPr>
            <a:r>
              <a:t>🤖📦🔷    🐧🧊🐟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657600"/>
            <a:ext cx="8229600" cy="20116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3749039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   ▸  </a:t>
            </a:r>
            <a:r>
              <a:rPr sz="1800">
                <a:solidFill>
                  <a:srgbClr val="FFFFFF"/>
                </a:solidFill>
                <a:latin typeface="Calibri"/>
              </a:rPr>
              <a:t>Generate a push game from concept → play in browser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   ▸  </a:t>
            </a:r>
            <a:r>
              <a:rPr sz="1800">
                <a:solidFill>
                  <a:srgbClr val="FFFFFF"/>
                </a:solidFill>
                <a:latin typeface="Calibri"/>
              </a:rPr>
              <a:t>Generate a slide game → observe debug loop in action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0D2FF"/>
                </a:solidFill>
                <a:latin typeface="Calibri"/>
              </a:rPr>
              <a:t>   ▸  </a:t>
            </a:r>
            <a:r>
              <a:rPr sz="1800">
                <a:solidFill>
                  <a:srgbClr val="FFFFFF"/>
                </a:solidFill>
                <a:latin typeface="Calibri"/>
              </a:rPr>
              <a:t>Inspect trace viewer, QA results, and architecture in Streamlit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BBCC"/>
                </a:solidFill>
                <a:latin typeface="Calibri"/>
              </a:defRPr>
            </a:pPr>
            <a:r>
              <a:t>Thank you!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1054</Words>
  <Application>Microsoft Macintosh PowerPoint</Application>
  <PresentationFormat>宽屏</PresentationFormat>
  <Paragraphs>217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Yixiao Li</cp:lastModifiedBy>
  <cp:revision>4</cp:revision>
  <dcterms:created xsi:type="dcterms:W3CDTF">2013-01-27T09:14:16Z</dcterms:created>
  <dcterms:modified xsi:type="dcterms:W3CDTF">2026-04-20T19:13:56Z</dcterms:modified>
  <cp:category/>
</cp:coreProperties>
</file>