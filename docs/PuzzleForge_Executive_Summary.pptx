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9"/>
  </p:normalViewPr>
  <p:slideViewPr>
    <p:cSldViewPr snapToGrid="0" snapToObjects="1">
      <p:cViewPr varScale="1">
        <p:scale>
          <a:sx n="104" d="100"/>
          <a:sy n="104" d="100"/>
        </p:scale>
        <p:origin x="284" y="10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470A92-0BC1-413F-AE70-44A51B0617DB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12DC13-F3E3-44E5-AE43-9A4BE7640F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948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12DC13-F3E3-44E5-AE43-9A4BE7640FE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2727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TextBox 2"/>
          <p:cNvSpPr txBox="1"/>
          <p:nvPr/>
        </p:nvSpPr>
        <p:spPr>
          <a:xfrm>
            <a:off x="489971" y="-9652"/>
            <a:ext cx="548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sz="3600" dirty="0" err="1"/>
              <a:t>PuzzleForge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4156715" y="174156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rPr sz="1400" dirty="0"/>
              <a:t>Agentic Puzzle Game Design &amp; Generation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87192" y="84428"/>
            <a:ext cx="4114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Calibri"/>
              </a:defRPr>
            </a:pPr>
            <a:r>
              <a:rPr sz="1200" dirty="0" err="1"/>
              <a:t>Yixiao</a:t>
            </a:r>
            <a:r>
              <a:rPr sz="1200" dirty="0"/>
              <a:t> Li  ·  Kaizhen Tan  ·  </a:t>
            </a:r>
            <a:r>
              <a:rPr sz="1200" dirty="0" err="1"/>
              <a:t>Hanzhe</a:t>
            </a:r>
            <a:r>
              <a:rPr sz="1200" dirty="0"/>
              <a:t> Hong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87192" y="287075"/>
            <a:ext cx="411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Calibri"/>
              </a:defRPr>
            </a:pPr>
            <a:r>
              <a:rPr sz="1050"/>
              <a:t>94-815 Agentic Systems Studio  ·  CMU Heinz  ·  Track A</a:t>
            </a:r>
          </a:p>
        </p:txBody>
      </p:sp>
      <p:sp>
        <p:nvSpPr>
          <p:cNvPr id="7" name="Rectangle 6"/>
          <p:cNvSpPr/>
          <p:nvPr/>
        </p:nvSpPr>
        <p:spPr>
          <a:xfrm flipV="1">
            <a:off x="58832" y="581132"/>
            <a:ext cx="12043160" cy="45719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Rounded Rectangle 7"/>
          <p:cNvSpPr/>
          <p:nvPr/>
        </p:nvSpPr>
        <p:spPr>
          <a:xfrm>
            <a:off x="126940" y="845540"/>
            <a:ext cx="3064774" cy="2077959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264100" y="891261"/>
            <a:ext cx="2516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94560"/>
                </a:solidFill>
                <a:latin typeface="Calibri"/>
              </a:defRPr>
            </a:pPr>
            <a:r>
              <a:rPr sz="1400" dirty="0"/>
              <a:t>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4100" y="1165581"/>
            <a:ext cx="1097280" cy="25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264100" y="1302741"/>
            <a:ext cx="2812547" cy="1487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dirty="0">
                <a:solidFill>
                  <a:srgbClr val="E94560"/>
                </a:solidFill>
                <a:latin typeface="Calibri"/>
              </a:rPr>
              <a:t>▸ </a:t>
            </a:r>
            <a:r>
              <a:rPr sz="1200" b="1" dirty="0">
                <a:solidFill>
                  <a:srgbClr val="BBBBCC"/>
                </a:solidFill>
                <a:latin typeface="Calibri"/>
              </a:rPr>
              <a:t>Creative + correct: </a:t>
            </a:r>
            <a:r>
              <a:rPr sz="1200" dirty="0">
                <a:solidFill>
                  <a:srgbClr val="BBBBCC"/>
                </a:solidFill>
                <a:latin typeface="Calibri"/>
              </a:rPr>
              <a:t>designing solvable puzzles requires both -- LLMs can only do one</a:t>
            </a:r>
          </a:p>
          <a:p>
            <a:pPr>
              <a:spcAft>
                <a:spcPts val="400"/>
              </a:spcAft>
            </a:pPr>
            <a:r>
              <a:rPr sz="1200" dirty="0">
                <a:solidFill>
                  <a:srgbClr val="E94560"/>
                </a:solidFill>
                <a:latin typeface="Calibri"/>
              </a:rPr>
              <a:t>▸ </a:t>
            </a:r>
            <a:r>
              <a:rPr sz="1200" b="1" dirty="0">
                <a:solidFill>
                  <a:srgbClr val="BBBBCC"/>
                </a:solidFill>
                <a:latin typeface="Calibri"/>
              </a:rPr>
              <a:t>LLMs can't verify: </a:t>
            </a:r>
            <a:r>
              <a:rPr sz="1200" dirty="0">
                <a:solidFill>
                  <a:srgbClr val="BBBBCC"/>
                </a:solidFill>
                <a:latin typeface="Calibri"/>
              </a:rPr>
              <a:t>no way to know if a generated puzzle is actually solvable</a:t>
            </a:r>
          </a:p>
          <a:p>
            <a:pPr>
              <a:spcAft>
                <a:spcPts val="400"/>
              </a:spcAft>
            </a:pPr>
            <a:r>
              <a:rPr sz="1200" dirty="0">
                <a:solidFill>
                  <a:srgbClr val="E94560"/>
                </a:solidFill>
                <a:latin typeface="Calibri"/>
              </a:rPr>
              <a:t>▸ </a:t>
            </a:r>
            <a:r>
              <a:rPr sz="1200" b="1" dirty="0">
                <a:solidFill>
                  <a:srgbClr val="BBBBCC"/>
                </a:solidFill>
                <a:latin typeface="Calibri"/>
              </a:rPr>
              <a:t>Slide physics: </a:t>
            </a:r>
            <a:r>
              <a:rPr sz="1200" dirty="0">
                <a:solidFill>
                  <a:srgbClr val="BBBBCC"/>
                </a:solidFill>
                <a:latin typeface="Calibri"/>
              </a:rPr>
              <a:t>LLMs achieve only 30% solvability on ice-puzzle mechanics alone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4418" y="804960"/>
            <a:ext cx="5069581" cy="1939649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3521579" y="850680"/>
            <a:ext cx="4297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Calibri"/>
              </a:defRPr>
            </a:pPr>
            <a:r>
              <a:rPr sz="1400" dirty="0"/>
              <a:t>APPROACH: 5-AGENT PIPELINE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1579" y="1125000"/>
            <a:ext cx="164592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Rounded Rectangle 14"/>
          <p:cNvSpPr/>
          <p:nvPr/>
        </p:nvSpPr>
        <p:spPr>
          <a:xfrm>
            <a:off x="3427999" y="1247115"/>
            <a:ext cx="882592" cy="54864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rPr sz="1100" dirty="0"/>
              <a:t>Game</a:t>
            </a:r>
            <a:br>
              <a:rPr sz="1100" dirty="0"/>
            </a:br>
            <a:r>
              <a:rPr sz="1100" dirty="0"/>
              <a:t>Designer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368125" y="1420572"/>
            <a:ext cx="91440" cy="164592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7" name="Rounded Rectangle 16"/>
          <p:cNvSpPr/>
          <p:nvPr/>
        </p:nvSpPr>
        <p:spPr>
          <a:xfrm>
            <a:off x="4482924" y="1242698"/>
            <a:ext cx="882592" cy="54864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rPr sz="1100" dirty="0"/>
              <a:t>Level</a:t>
            </a:r>
            <a:br>
              <a:rPr sz="1100" dirty="0"/>
            </a:br>
            <a:r>
              <a:rPr sz="1100" dirty="0"/>
              <a:t>Designer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392089" y="1404020"/>
            <a:ext cx="91440" cy="164592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9" name="Rounded Rectangle 18"/>
          <p:cNvSpPr/>
          <p:nvPr/>
        </p:nvSpPr>
        <p:spPr>
          <a:xfrm>
            <a:off x="5502088" y="1230704"/>
            <a:ext cx="880622" cy="548640"/>
          </a:xfrm>
          <a:prstGeom prst="roundRect">
            <a:avLst/>
          </a:prstGeom>
          <a:solidFill>
            <a:srgbClr val="545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rPr sz="1100" dirty="0"/>
              <a:t>Developer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409283" y="1404020"/>
            <a:ext cx="91440" cy="164592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1" name="Rounded Rectangle 20"/>
          <p:cNvSpPr/>
          <p:nvPr/>
        </p:nvSpPr>
        <p:spPr>
          <a:xfrm>
            <a:off x="6527296" y="1218751"/>
            <a:ext cx="880622" cy="548640"/>
          </a:xfrm>
          <a:prstGeom prst="roundRect">
            <a:avLst/>
          </a:prstGeom>
          <a:solidFill>
            <a:srgbClr val="545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rPr sz="1100" dirty="0"/>
              <a:t>QA Tester</a:t>
            </a:r>
            <a:br>
              <a:rPr sz="1100" dirty="0"/>
            </a:br>
            <a:r>
              <a:rPr sz="1100" dirty="0"/>
              <a:t>(BFS)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433223" y="1391035"/>
            <a:ext cx="91440" cy="164592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3" name="Rounded Rectangle 22"/>
          <p:cNvSpPr/>
          <p:nvPr/>
        </p:nvSpPr>
        <p:spPr>
          <a:xfrm>
            <a:off x="7536477" y="1218751"/>
            <a:ext cx="880622" cy="54864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rPr sz="1100"/>
              <a:t>Debugger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4418" y="1917654"/>
            <a:ext cx="5134538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200" b="1" dirty="0">
                <a:solidFill>
                  <a:srgbClr val="BBBBCC"/>
                </a:solidFill>
                <a:latin typeface="Calibri"/>
              </a:rPr>
              <a:t>Design Layer: </a:t>
            </a:r>
            <a:r>
              <a:rPr sz="1200" dirty="0">
                <a:solidFill>
                  <a:srgbClr val="BBBBCC"/>
                </a:solidFill>
                <a:latin typeface="Calibri"/>
              </a:rPr>
              <a:t>LLM generates concepts &amp; layouts (creative)</a:t>
            </a:r>
          </a:p>
          <a:p>
            <a:pPr>
              <a:spcAft>
                <a:spcPts val="400"/>
              </a:spcAft>
            </a:pPr>
            <a:r>
              <a:rPr sz="1200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200" b="1" dirty="0">
                <a:solidFill>
                  <a:srgbClr val="BBBBCC"/>
                </a:solidFill>
                <a:latin typeface="Calibri"/>
              </a:rPr>
              <a:t>Implementation Layer: </a:t>
            </a:r>
            <a:r>
              <a:rPr sz="1200" dirty="0">
                <a:solidFill>
                  <a:srgbClr val="BBBBCC"/>
                </a:solidFill>
                <a:latin typeface="Calibri"/>
              </a:rPr>
              <a:t>BFS solver verifies, deterministic routing, debug loop</a:t>
            </a:r>
          </a:p>
          <a:p>
            <a:pPr>
              <a:spcAft>
                <a:spcPts val="400"/>
              </a:spcAft>
            </a:pPr>
            <a:r>
              <a:rPr sz="1200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200" b="1" dirty="0">
                <a:solidFill>
                  <a:srgbClr val="BBBBCC"/>
                </a:solidFill>
                <a:latin typeface="Calibri"/>
              </a:rPr>
              <a:t>Principle: </a:t>
            </a:r>
            <a:r>
              <a:rPr sz="1200" dirty="0">
                <a:solidFill>
                  <a:srgbClr val="BBBBCC"/>
                </a:solidFill>
                <a:latin typeface="Calibri"/>
              </a:rPr>
              <a:t>deterministic where possible, LLM where necessary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6940" y="3045398"/>
            <a:ext cx="4029775" cy="3729754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6" name="TextBox 35"/>
          <p:cNvSpPr txBox="1"/>
          <p:nvPr/>
        </p:nvSpPr>
        <p:spPr>
          <a:xfrm>
            <a:off x="264101" y="3121774"/>
            <a:ext cx="3291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  <a:latin typeface="Calibri"/>
              </a:defRPr>
            </a:pPr>
            <a:r>
              <a:rPr sz="1400"/>
              <a:t>BASELINE COMPARISON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4101" y="3396094"/>
            <a:ext cx="1463040" cy="25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3230394"/>
              </p:ext>
            </p:extLst>
          </p:nvPr>
        </p:nvGraphicFramePr>
        <p:xfrm>
          <a:off x="547644" y="3536641"/>
          <a:ext cx="3188366" cy="149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9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94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354">
                <a:tc>
                  <a:txBody>
                    <a:bodyPr/>
                    <a:lstStyle/>
                    <a:p>
                      <a:pPr algn="ctr"/>
                      <a:endParaRPr sz="2400" dirty="0"/>
                    </a:p>
                  </a:txBody>
                  <a:tcPr anchor="ctr">
                    <a:solidFill>
                      <a:srgbClr val="F39C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A1A2E"/>
                          </a:solidFill>
                          <a:latin typeface="Calibri"/>
                        </a:rPr>
                        <a:t>Single LLM</a:t>
                      </a:r>
                    </a:p>
                  </a:txBody>
                  <a:tcPr anchor="ctr">
                    <a:solidFill>
                      <a:srgbClr val="F39C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A1A2E"/>
                          </a:solidFill>
                          <a:latin typeface="Calibri"/>
                        </a:rPr>
                        <a:t>Pipeline</a:t>
                      </a:r>
                    </a:p>
                  </a:txBody>
                  <a:tcPr anchor="ctr">
                    <a:solidFill>
                      <a:srgbClr val="F39C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40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Push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90%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40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Slide</a:t>
                      </a:r>
                    </a:p>
                  </a:txBody>
                  <a:tcPr anchor="ctr"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anchor="ctr"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CC71"/>
                          </a:solidFill>
                          <a:latin typeface="Calibri"/>
                        </a:rPr>
                        <a:t>71%</a:t>
                      </a:r>
                    </a:p>
                  </a:txBody>
                  <a:tcPr anchor="ctr">
                    <a:solidFill>
                      <a:srgbClr val="1C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40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Overall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65%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Calibri"/>
                        </a:rPr>
                        <a:t>82%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40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Verified?</a:t>
                      </a:r>
                    </a:p>
                  </a:txBody>
                  <a:tcPr anchor="ctr"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FFFFF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FFFFFF"/>
                          </a:solidFill>
                          <a:latin typeface="Calibri"/>
                        </a:rPr>
                        <a:t>Yes (BFS)</a:t>
                      </a:r>
                    </a:p>
                  </a:txBody>
                  <a:tcPr anchor="ctr">
                    <a:solidFill>
                      <a:srgbClr val="1C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897945" y="5048044"/>
            <a:ext cx="301752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BBBCC"/>
                </a:solidFill>
                <a:latin typeface="Calibri"/>
              </a:defRPr>
            </a:pPr>
            <a:r>
              <a:rPr lang="zh-CN" altLang="en-US" sz="1050" dirty="0">
                <a:solidFill>
                  <a:srgbClr val="00D2FF"/>
                </a:solidFill>
                <a:latin typeface="Calibri"/>
              </a:rPr>
              <a:t>▸ </a:t>
            </a:r>
            <a:r>
              <a:rPr lang="en-US" sz="1050" dirty="0"/>
              <a:t>D</a:t>
            </a:r>
            <a:r>
              <a:rPr sz="1050" dirty="0"/>
              <a:t>ebug loop more than doubles slide</a:t>
            </a:r>
            <a:endParaRPr lang="en-US" sz="1050" dirty="0"/>
          </a:p>
          <a:p>
            <a:pPr>
              <a:defRPr sz="1100" b="0">
                <a:solidFill>
                  <a:srgbClr val="BBBBCC"/>
                </a:solidFill>
                <a:latin typeface="Calibri"/>
              </a:defRPr>
            </a:pPr>
            <a:r>
              <a:rPr lang="zh-CN" altLang="en-US" sz="1050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050" dirty="0"/>
              <a:t>solvability: 30% → 71% (+41 pp)</a:t>
            </a:r>
            <a:endParaRPr lang="en-US" sz="1050" dirty="0"/>
          </a:p>
          <a:p>
            <a:pPr>
              <a:defRPr sz="1100" b="0">
                <a:solidFill>
                  <a:srgbClr val="BBBBCC"/>
                </a:solidFill>
                <a:latin typeface="Calibri"/>
              </a:defRPr>
            </a:pPr>
            <a:r>
              <a:rPr lang="zh-CN" altLang="en-US" sz="1050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050" dirty="0"/>
              <a:t>5x token cost buys verified correctness.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3875" y="2841324"/>
            <a:ext cx="3892615" cy="3932248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1" name="TextBox 40"/>
          <p:cNvSpPr txBox="1"/>
          <p:nvPr/>
        </p:nvSpPr>
        <p:spPr>
          <a:xfrm>
            <a:off x="4591856" y="2894617"/>
            <a:ext cx="14073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Calibri"/>
              </a:defRPr>
            </a:pPr>
            <a:r>
              <a:rPr sz="1400" dirty="0"/>
              <a:t>KEY INSIGHTS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91856" y="3168937"/>
            <a:ext cx="9144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3" name="TextBox 42"/>
          <p:cNvSpPr txBox="1"/>
          <p:nvPr/>
        </p:nvSpPr>
        <p:spPr>
          <a:xfrm>
            <a:off x="4460765" y="3255687"/>
            <a:ext cx="3725725" cy="3393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200" b="1" dirty="0">
                <a:solidFill>
                  <a:srgbClr val="BBBBCC"/>
                </a:solidFill>
                <a:latin typeface="Calibri"/>
              </a:rPr>
              <a:t>Multi-agent failures are emergent. </a:t>
            </a:r>
            <a:endParaRPr lang="en-US" sz="1200" b="1" dirty="0">
              <a:solidFill>
                <a:srgbClr val="BBBBCC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200" dirty="0">
                <a:solidFill>
                  <a:srgbClr val="BBBBCC"/>
                </a:solidFill>
                <a:latin typeface="Calibri"/>
              </a:rPr>
              <a:t>Each agent works in isolation; bugs appear in how they share state and respond to each other (F-004, F-006).</a:t>
            </a:r>
          </a:p>
          <a:p>
            <a:pPr>
              <a:spcAft>
                <a:spcPts val="300"/>
              </a:spcAft>
            </a:pPr>
            <a:r>
              <a:rPr sz="1200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200" b="1" dirty="0">
                <a:solidFill>
                  <a:srgbClr val="BBBBCC"/>
                </a:solidFill>
                <a:latin typeface="Calibri"/>
              </a:rPr>
              <a:t>Silent failure &gt; crash</a:t>
            </a:r>
            <a:r>
              <a:rPr lang="en-US" altLang="zh-CN" sz="1200" b="1" dirty="0">
                <a:solidFill>
                  <a:srgbClr val="BBBBCC"/>
                </a:solidFill>
                <a:latin typeface="Calibri"/>
              </a:rPr>
              <a:t>.</a:t>
            </a:r>
            <a:r>
              <a:rPr lang="zh-CN" altLang="en-US" sz="1200" b="1" dirty="0">
                <a:solidFill>
                  <a:srgbClr val="BBBBCC"/>
                </a:solidFill>
                <a:latin typeface="Calibri"/>
              </a:rPr>
              <a:t> </a:t>
            </a:r>
            <a:endParaRPr lang="en-US" altLang="zh-CN" sz="1200" b="1" dirty="0">
              <a:solidFill>
                <a:srgbClr val="BBBBCC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200" dirty="0">
                <a:solidFill>
                  <a:srgbClr val="BBBBCC"/>
                </a:solidFill>
                <a:latin typeface="Calibri"/>
              </a:rPr>
              <a:t>except Exception silently broke the feedback loop for 3 cycles. Explicit error handling is essential (F-004).</a:t>
            </a:r>
          </a:p>
          <a:p>
            <a:pPr>
              <a:spcAft>
                <a:spcPts val="300"/>
              </a:spcAft>
            </a:pPr>
            <a:r>
              <a:rPr sz="1200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200" b="1" dirty="0">
                <a:solidFill>
                  <a:srgbClr val="BBBBCC"/>
                </a:solidFill>
                <a:latin typeface="Calibri"/>
              </a:rPr>
              <a:t>Not all failures are equal. </a:t>
            </a:r>
            <a:endParaRPr lang="en-US" sz="1200" b="1" dirty="0">
              <a:solidFill>
                <a:srgbClr val="BBBBCC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200" dirty="0">
                <a:solidFill>
                  <a:srgbClr val="BBBBCC"/>
                </a:solidFill>
                <a:latin typeface="Calibri"/>
              </a:rPr>
              <a:t>Treating cosmetic issues (diversity) same as critical issues (solvability) wastes bounded iteration budget (F-005).</a:t>
            </a:r>
          </a:p>
          <a:p>
            <a:pPr>
              <a:spcAft>
                <a:spcPts val="300"/>
              </a:spcAft>
            </a:pPr>
            <a:r>
              <a:rPr sz="1200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200" b="1" dirty="0">
                <a:solidFill>
                  <a:srgbClr val="BBBBCC"/>
                </a:solidFill>
                <a:latin typeface="Calibri"/>
              </a:rPr>
              <a:t>Verification beats prompting. </a:t>
            </a:r>
            <a:endParaRPr lang="en-US" sz="1200" b="1" dirty="0">
              <a:solidFill>
                <a:srgbClr val="BBBBCC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200" dirty="0">
                <a:solidFill>
                  <a:srgbClr val="BBBBCC"/>
                </a:solidFill>
                <a:latin typeface="Calibri"/>
              </a:rPr>
              <a:t>Slide solvability: prompt improvement alone = 30%. Add BFS solver + debug loop = 71%. Deterministic tools compensate for LLM weaknesses.</a:t>
            </a:r>
          </a:p>
          <a:p>
            <a:pPr>
              <a:spcAft>
                <a:spcPts val="300"/>
              </a:spcAft>
            </a:pPr>
            <a:r>
              <a:rPr sz="1200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200" b="1" dirty="0">
                <a:solidFill>
                  <a:srgbClr val="BBBBCC"/>
                </a:solidFill>
                <a:latin typeface="Calibri"/>
              </a:rPr>
              <a:t>Observability pays for itself. </a:t>
            </a:r>
            <a:endParaRPr lang="en-US" sz="1200" b="1" dirty="0">
              <a:solidFill>
                <a:srgbClr val="BBBBCC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200" dirty="0">
                <a:solidFill>
                  <a:srgbClr val="BBBBCC"/>
                </a:solidFill>
                <a:latin typeface="Calibri"/>
              </a:rPr>
              <a:t>Append-only trace log made it possible to diagnose every failure. Without it, silent bugs would be invisible.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39334" y="3456903"/>
            <a:ext cx="3725726" cy="3318249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5" name="TextBox 44"/>
          <p:cNvSpPr txBox="1"/>
          <p:nvPr/>
        </p:nvSpPr>
        <p:spPr>
          <a:xfrm>
            <a:off x="8476494" y="3502624"/>
            <a:ext cx="20742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Calibri"/>
              </a:defRPr>
            </a:pPr>
            <a:r>
              <a:rPr sz="1400" dirty="0"/>
              <a:t>RECOMMENDATIONS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76494" y="3776944"/>
            <a:ext cx="1371600" cy="25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7" name="TextBox 46"/>
          <p:cNvSpPr txBox="1"/>
          <p:nvPr/>
        </p:nvSpPr>
        <p:spPr>
          <a:xfrm>
            <a:off x="8476494" y="3856912"/>
            <a:ext cx="354320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dirty="0">
                <a:solidFill>
                  <a:srgbClr val="2ECC71"/>
                </a:solidFill>
                <a:latin typeface="Calibri"/>
              </a:rPr>
              <a:t>▸ </a:t>
            </a:r>
            <a:r>
              <a:rPr sz="1200" b="1" dirty="0">
                <a:solidFill>
                  <a:srgbClr val="BBBBCC"/>
                </a:solidFill>
                <a:latin typeface="Calibri"/>
              </a:rPr>
              <a:t>Severity-aware routing</a:t>
            </a:r>
            <a:r>
              <a:rPr lang="en-US" altLang="zh-CN" sz="1200" b="1" dirty="0">
                <a:solidFill>
                  <a:srgbClr val="BBBBCC"/>
                </a:solidFill>
                <a:latin typeface="Calibri"/>
              </a:rPr>
              <a:t>:</a:t>
            </a:r>
            <a:r>
              <a:rPr lang="zh-CN" altLang="en-US" sz="1200" b="1" dirty="0">
                <a:solidFill>
                  <a:srgbClr val="BBBBCC"/>
                </a:solidFill>
                <a:latin typeface="Calibri"/>
              </a:rPr>
              <a:t> </a:t>
            </a:r>
            <a:r>
              <a:rPr lang="en-US" sz="1200" dirty="0">
                <a:solidFill>
                  <a:srgbClr val="BBBBCC"/>
                </a:solidFill>
                <a:latin typeface="Calibri"/>
              </a:rPr>
              <a:t>allocate debug cycles by failure severity, not equally. Solvability first, cosmetics last.</a:t>
            </a:r>
          </a:p>
          <a:p>
            <a:pPr>
              <a:spcAft>
                <a:spcPts val="300"/>
              </a:spcAft>
            </a:pPr>
            <a:r>
              <a:rPr sz="1200" dirty="0">
                <a:solidFill>
                  <a:srgbClr val="2ECC71"/>
                </a:solidFill>
                <a:latin typeface="Calibri"/>
              </a:rPr>
              <a:t>▸ </a:t>
            </a:r>
            <a:r>
              <a:rPr sz="1200" b="1" dirty="0">
                <a:solidFill>
                  <a:srgbClr val="BBBBCC"/>
                </a:solidFill>
                <a:latin typeface="Calibri"/>
              </a:rPr>
              <a:t>Solver-guided generation</a:t>
            </a:r>
            <a:r>
              <a:rPr lang="en-US" altLang="zh-CN" sz="1200" b="1" dirty="0">
                <a:solidFill>
                  <a:srgbClr val="BBBBCC"/>
                </a:solidFill>
                <a:latin typeface="Calibri"/>
              </a:rPr>
              <a:t>:</a:t>
            </a:r>
            <a:r>
              <a:rPr lang="zh-CN" altLang="en-US" sz="1200" b="1" dirty="0">
                <a:solidFill>
                  <a:srgbClr val="BBBBCC"/>
                </a:solidFill>
                <a:latin typeface="Calibri"/>
              </a:rPr>
              <a:t> </a:t>
            </a:r>
            <a:r>
              <a:rPr sz="1200" dirty="0">
                <a:solidFill>
                  <a:srgbClr val="BBBBCC"/>
                </a:solidFill>
                <a:latin typeface="Calibri"/>
              </a:rPr>
              <a:t>feed solver metrics (deadlock locations, states explored) to Level Designer during initial design, not just repair.</a:t>
            </a:r>
          </a:p>
          <a:p>
            <a:pPr>
              <a:spcAft>
                <a:spcPts val="300"/>
              </a:spcAft>
            </a:pPr>
            <a:r>
              <a:rPr sz="1200" dirty="0">
                <a:solidFill>
                  <a:srgbClr val="2ECC71"/>
                </a:solidFill>
                <a:latin typeface="Calibri"/>
              </a:rPr>
              <a:t>▸ </a:t>
            </a:r>
            <a:r>
              <a:rPr sz="1200" b="1" dirty="0">
                <a:solidFill>
                  <a:srgbClr val="BBBBCC"/>
                </a:solidFill>
                <a:latin typeface="Calibri"/>
              </a:rPr>
              <a:t>Separate decision state from history</a:t>
            </a:r>
            <a:r>
              <a:rPr lang="en-US" altLang="zh-CN" sz="1200" b="1" dirty="0">
                <a:solidFill>
                  <a:srgbClr val="BBBBCC"/>
                </a:solidFill>
                <a:latin typeface="Calibri"/>
              </a:rPr>
              <a:t>:</a:t>
            </a:r>
            <a:r>
              <a:rPr lang="zh-CN" altLang="en-US" sz="1200" b="1" dirty="0">
                <a:solidFill>
                  <a:srgbClr val="BBBBCC"/>
                </a:solidFill>
                <a:latin typeface="Calibri"/>
              </a:rPr>
              <a:t> </a:t>
            </a:r>
            <a:r>
              <a:rPr sz="1200" dirty="0">
                <a:solidFill>
                  <a:srgbClr val="BBBBCC"/>
                </a:solidFill>
                <a:latin typeface="Calibri"/>
              </a:rPr>
              <a:t>append-only logs for observability; reset-per-cycle fields for agent decisions.</a:t>
            </a:r>
          </a:p>
          <a:p>
            <a:pPr>
              <a:spcAft>
                <a:spcPts val="300"/>
              </a:spcAft>
            </a:pPr>
            <a:r>
              <a:rPr sz="1200" dirty="0">
                <a:solidFill>
                  <a:srgbClr val="2ECC71"/>
                </a:solidFill>
                <a:latin typeface="Calibri"/>
              </a:rPr>
              <a:t>▸ </a:t>
            </a:r>
            <a:r>
              <a:rPr sz="1200" b="1" dirty="0">
                <a:solidFill>
                  <a:srgbClr val="BBBBCC"/>
                </a:solidFill>
                <a:latin typeface="Calibri"/>
              </a:rPr>
              <a:t>Human-in-the-loop gates</a:t>
            </a:r>
            <a:r>
              <a:rPr lang="en-US" altLang="zh-CN" sz="1200" b="1" dirty="0">
                <a:solidFill>
                  <a:srgbClr val="BBBBCC"/>
                </a:solidFill>
                <a:latin typeface="Calibri"/>
              </a:rPr>
              <a:t>:</a:t>
            </a:r>
            <a:r>
              <a:rPr lang="zh-CN" altLang="en-US" sz="1200" b="1" dirty="0">
                <a:solidFill>
                  <a:srgbClr val="BBBBCC"/>
                </a:solidFill>
                <a:latin typeface="Calibri"/>
              </a:rPr>
              <a:t> </a:t>
            </a:r>
            <a:r>
              <a:rPr sz="1200" dirty="0">
                <a:solidFill>
                  <a:srgbClr val="BBBBCC"/>
                </a:solidFill>
                <a:latin typeface="Calibri"/>
              </a:rPr>
              <a:t>routing override + level editor in </a:t>
            </a:r>
            <a:r>
              <a:rPr sz="1200" dirty="0" err="1">
                <a:solidFill>
                  <a:srgbClr val="BBBBCC"/>
                </a:solidFill>
                <a:latin typeface="Calibri"/>
              </a:rPr>
              <a:t>Streamlit</a:t>
            </a:r>
            <a:r>
              <a:rPr sz="1200" dirty="0">
                <a:solidFill>
                  <a:srgbClr val="BBBBCC"/>
                </a:solidFill>
                <a:latin typeface="Calibri"/>
              </a:rPr>
              <a:t> dashboard for production use.</a:t>
            </a:r>
          </a:p>
          <a:p>
            <a:pPr>
              <a:spcAft>
                <a:spcPts val="300"/>
              </a:spcAft>
            </a:pPr>
            <a:r>
              <a:rPr sz="1200" dirty="0">
                <a:solidFill>
                  <a:srgbClr val="2ECC71"/>
                </a:solidFill>
                <a:latin typeface="Calibri"/>
              </a:rPr>
              <a:t>▸ </a:t>
            </a:r>
            <a:r>
              <a:rPr sz="1200" b="1" dirty="0">
                <a:solidFill>
                  <a:srgbClr val="BBBBCC"/>
                </a:solidFill>
                <a:latin typeface="Calibri"/>
              </a:rPr>
              <a:t>Extend mechanics</a:t>
            </a:r>
            <a:r>
              <a:rPr lang="en-US" altLang="zh-CN" sz="1200" b="1" dirty="0">
                <a:solidFill>
                  <a:srgbClr val="BBBBCC"/>
                </a:solidFill>
                <a:latin typeface="Calibri"/>
              </a:rPr>
              <a:t>:</a:t>
            </a:r>
            <a:r>
              <a:rPr lang="zh-CN" altLang="en-US" sz="1200" b="1" dirty="0">
                <a:solidFill>
                  <a:srgbClr val="BBBBCC"/>
                </a:solidFill>
                <a:latin typeface="Calibri"/>
              </a:rPr>
              <a:t> </a:t>
            </a:r>
            <a:r>
              <a:rPr sz="1200" dirty="0">
                <a:solidFill>
                  <a:srgbClr val="BBBBCC"/>
                </a:solidFill>
                <a:latin typeface="Calibri"/>
              </a:rPr>
              <a:t>add switch/teleport puzzles. Same architecture scales -- only solver and template need updates.</a:t>
            </a:r>
          </a:p>
        </p:txBody>
      </p:sp>
      <p:pic>
        <p:nvPicPr>
          <p:cNvPr id="51" name="video">
            <a:hlinkClick r:id="" action="ppaction://media"/>
            <a:extLst>
              <a:ext uri="{FF2B5EF4-FFF2-40B4-BE49-F238E27FC236}">
                <a16:creationId xmlns:a16="http://schemas.microsoft.com/office/drawing/2014/main" id="{F3295F41-0A52-4A70-E0D3-198D64036E9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98585" y="773164"/>
            <a:ext cx="3377862" cy="2533398"/>
          </a:xfrm>
          <a:prstGeom prst="rect">
            <a:avLst/>
          </a:prstGeom>
        </p:spPr>
      </p:pic>
      <p:sp>
        <p:nvSpPr>
          <p:cNvPr id="52" name="TextBox 25">
            <a:extLst>
              <a:ext uri="{FF2B5EF4-FFF2-40B4-BE49-F238E27FC236}">
                <a16:creationId xmlns:a16="http://schemas.microsoft.com/office/drawing/2014/main" id="{44C77131-15BA-5E99-18F9-998BCA3E5C12}"/>
              </a:ext>
            </a:extLst>
          </p:cNvPr>
          <p:cNvSpPr txBox="1"/>
          <p:nvPr/>
        </p:nvSpPr>
        <p:spPr>
          <a:xfrm>
            <a:off x="315620" y="5625125"/>
            <a:ext cx="3474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Calibri"/>
              </a:defRPr>
            </a:pPr>
            <a:r>
              <a:rPr sz="1400" dirty="0"/>
              <a:t>RESULTS (4 LIVE RUNS)</a:t>
            </a:r>
          </a:p>
        </p:txBody>
      </p:sp>
      <p:sp>
        <p:nvSpPr>
          <p:cNvPr id="53" name="Rectangle 26">
            <a:extLst>
              <a:ext uri="{FF2B5EF4-FFF2-40B4-BE49-F238E27FC236}">
                <a16:creationId xmlns:a16="http://schemas.microsoft.com/office/drawing/2014/main" id="{EDDAF5E7-E288-9A58-C292-0A62823F63B4}"/>
              </a:ext>
            </a:extLst>
          </p:cNvPr>
          <p:cNvSpPr/>
          <p:nvPr/>
        </p:nvSpPr>
        <p:spPr>
          <a:xfrm>
            <a:off x="315620" y="5899445"/>
            <a:ext cx="1371600" cy="25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4" name="TextBox 27">
            <a:extLst>
              <a:ext uri="{FF2B5EF4-FFF2-40B4-BE49-F238E27FC236}">
                <a16:creationId xmlns:a16="http://schemas.microsoft.com/office/drawing/2014/main" id="{79C2B055-AEC2-8886-1D4A-7B6803E20E8F}"/>
              </a:ext>
            </a:extLst>
          </p:cNvPr>
          <p:cNvSpPr txBox="1"/>
          <p:nvPr/>
        </p:nvSpPr>
        <p:spPr>
          <a:xfrm>
            <a:off x="647630" y="5966739"/>
            <a:ext cx="1005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Calibri"/>
              </a:defRPr>
            </a:pPr>
            <a:r>
              <a:rPr sz="2000"/>
              <a:t>82%</a:t>
            </a:r>
          </a:p>
        </p:txBody>
      </p:sp>
      <p:sp>
        <p:nvSpPr>
          <p:cNvPr id="55" name="TextBox 28">
            <a:extLst>
              <a:ext uri="{FF2B5EF4-FFF2-40B4-BE49-F238E27FC236}">
                <a16:creationId xmlns:a16="http://schemas.microsoft.com/office/drawing/2014/main" id="{9E90A4ED-CE91-0D40-E84C-6C43C9256921}"/>
              </a:ext>
            </a:extLst>
          </p:cNvPr>
          <p:cNvSpPr txBox="1"/>
          <p:nvPr/>
        </p:nvSpPr>
        <p:spPr>
          <a:xfrm>
            <a:off x="624004" y="6267528"/>
            <a:ext cx="1005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AA"/>
                </a:solidFill>
                <a:latin typeface="Calibri"/>
              </a:defRPr>
            </a:pPr>
            <a:r>
              <a:rPr sz="1000"/>
              <a:t>overall</a:t>
            </a:r>
            <a:br>
              <a:rPr sz="1000"/>
            </a:br>
            <a:r>
              <a:rPr sz="1000"/>
              <a:t>solvability</a:t>
            </a:r>
          </a:p>
        </p:txBody>
      </p:sp>
      <p:sp>
        <p:nvSpPr>
          <p:cNvPr id="56" name="TextBox 29">
            <a:extLst>
              <a:ext uri="{FF2B5EF4-FFF2-40B4-BE49-F238E27FC236}">
                <a16:creationId xmlns:a16="http://schemas.microsoft.com/office/drawing/2014/main" id="{636E5BD5-0792-C6DA-5B1D-9961C452F3BC}"/>
              </a:ext>
            </a:extLst>
          </p:cNvPr>
          <p:cNvSpPr txBox="1"/>
          <p:nvPr/>
        </p:nvSpPr>
        <p:spPr>
          <a:xfrm>
            <a:off x="1744910" y="5966739"/>
            <a:ext cx="1005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ECC71"/>
                </a:solidFill>
                <a:latin typeface="Calibri"/>
              </a:defRPr>
            </a:pPr>
            <a:r>
              <a:rPr sz="2000"/>
              <a:t>90%</a:t>
            </a:r>
          </a:p>
        </p:txBody>
      </p:sp>
      <p:sp>
        <p:nvSpPr>
          <p:cNvPr id="57" name="TextBox 30">
            <a:extLst>
              <a:ext uri="{FF2B5EF4-FFF2-40B4-BE49-F238E27FC236}">
                <a16:creationId xmlns:a16="http://schemas.microsoft.com/office/drawing/2014/main" id="{F97B0B25-D774-0573-C1BF-A9409AD58E96}"/>
              </a:ext>
            </a:extLst>
          </p:cNvPr>
          <p:cNvSpPr txBox="1"/>
          <p:nvPr/>
        </p:nvSpPr>
        <p:spPr>
          <a:xfrm>
            <a:off x="1721284" y="6267528"/>
            <a:ext cx="1005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AA"/>
                </a:solidFill>
                <a:latin typeface="Calibri"/>
              </a:defRPr>
            </a:pPr>
            <a:r>
              <a:rPr sz="1000"/>
              <a:t>push</a:t>
            </a:r>
            <a:br>
              <a:rPr sz="1000"/>
            </a:br>
            <a:r>
              <a:rPr sz="1000"/>
              <a:t>levels</a:t>
            </a:r>
          </a:p>
        </p:txBody>
      </p:sp>
      <p:sp>
        <p:nvSpPr>
          <p:cNvPr id="58" name="TextBox 31">
            <a:extLst>
              <a:ext uri="{FF2B5EF4-FFF2-40B4-BE49-F238E27FC236}">
                <a16:creationId xmlns:a16="http://schemas.microsoft.com/office/drawing/2014/main" id="{BA717B7B-B4CB-A2B6-7792-48C7277F7133}"/>
              </a:ext>
            </a:extLst>
          </p:cNvPr>
          <p:cNvSpPr txBox="1"/>
          <p:nvPr/>
        </p:nvSpPr>
        <p:spPr>
          <a:xfrm>
            <a:off x="2842190" y="5966739"/>
            <a:ext cx="1005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39C12"/>
                </a:solidFill>
                <a:latin typeface="Calibri"/>
              </a:defRPr>
            </a:pPr>
            <a:r>
              <a:rPr sz="2000"/>
              <a:t>71%</a:t>
            </a:r>
          </a:p>
        </p:txBody>
      </p:sp>
      <p:sp>
        <p:nvSpPr>
          <p:cNvPr id="59" name="TextBox 32">
            <a:extLst>
              <a:ext uri="{FF2B5EF4-FFF2-40B4-BE49-F238E27FC236}">
                <a16:creationId xmlns:a16="http://schemas.microsoft.com/office/drawing/2014/main" id="{31D9EE0C-7990-69F3-2B86-7B5F1A5F6262}"/>
              </a:ext>
            </a:extLst>
          </p:cNvPr>
          <p:cNvSpPr txBox="1"/>
          <p:nvPr/>
        </p:nvSpPr>
        <p:spPr>
          <a:xfrm>
            <a:off x="2818564" y="6267528"/>
            <a:ext cx="1005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AA"/>
                </a:solidFill>
                <a:latin typeface="Calibri"/>
              </a:defRPr>
            </a:pPr>
            <a:r>
              <a:rPr sz="1000"/>
              <a:t>slide</a:t>
            </a:r>
            <a:br>
              <a:rPr sz="1000"/>
            </a:br>
            <a:r>
              <a:rPr sz="1000"/>
              <a:t>levels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235" fill="hold"/>
                                        <p:tgtEl>
                                          <p:spTgt spid="5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443</Words>
  <Application>Microsoft Office PowerPoint</Application>
  <PresentationFormat>宽屏</PresentationFormat>
  <Paragraphs>60</Paragraphs>
  <Slides>1</Slides>
  <Notes>1</Notes>
  <HiddenSlides>0</HiddenSlides>
  <MMClips>1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Kz Tan</cp:lastModifiedBy>
  <cp:revision>9</cp:revision>
  <dcterms:created xsi:type="dcterms:W3CDTF">2013-01-27T09:14:16Z</dcterms:created>
  <dcterms:modified xsi:type="dcterms:W3CDTF">2026-04-22T23:32:38Z</dcterms:modified>
  <cp:category/>
</cp:coreProperties>
</file>