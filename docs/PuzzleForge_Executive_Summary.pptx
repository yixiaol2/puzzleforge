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5"/>
  </p:normalViewPr>
  <p:slideViewPr>
    <p:cSldViewPr snapToGrid="0" snapToObjects="1">
      <p:cViewPr varScale="1">
        <p:scale>
          <a:sx n="117" d="100"/>
          <a:sy n="117" d="100"/>
        </p:scale>
        <p:origin x="264" y="16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4/14/26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4/14/26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64008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PuzzleForge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08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CC"/>
                </a:solidFill>
                <a:latin typeface="Calibri"/>
              </a:defRPr>
            </a:pPr>
            <a:r>
              <a:rPr dirty="0"/>
              <a:t>Agentic Puzzle Game Design &amp; Generation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1645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8888AA"/>
                </a:solidFill>
                <a:latin typeface="Calibri"/>
              </a:defRPr>
            </a:pPr>
            <a:r>
              <a:t>Yixiao Li  ·  Kaizhen Tan  ·  Hanzhe Hong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3931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888AA"/>
                </a:solidFill>
                <a:latin typeface="Calibri"/>
              </a:defRPr>
            </a:pPr>
            <a:r>
              <a:t>94-815 Agentic Systems Studio  ·  CMU Heinz  ·  Track A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749808"/>
            <a:ext cx="11430000" cy="254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365760" y="914400"/>
            <a:ext cx="3291840" cy="246888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96012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94560"/>
                </a:solidFill>
                <a:latin typeface="Calibri"/>
              </a:defRPr>
            </a:pPr>
            <a:r>
              <a:t>PROBLEM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34440"/>
            <a:ext cx="1097280" cy="254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2920" y="1371600"/>
            <a:ext cx="3017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>
                <a:solidFill>
                  <a:srgbClr val="E94560"/>
                </a:solidFill>
                <a:latin typeface="Calibri"/>
              </a:rPr>
              <a:t>▸ </a:t>
            </a:r>
            <a:r>
              <a:rPr sz="1100" b="1">
                <a:solidFill>
                  <a:srgbClr val="BBBBCC"/>
                </a:solidFill>
                <a:latin typeface="Calibri"/>
              </a:rPr>
              <a:t>Creative + correct: </a:t>
            </a:r>
            <a:r>
              <a:rPr sz="1100">
                <a:solidFill>
                  <a:srgbClr val="BBBBCC"/>
                </a:solidFill>
                <a:latin typeface="Calibri"/>
              </a:rPr>
              <a:t>designing solvable puzzles requires both -- LLMs can only do one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E94560"/>
                </a:solidFill>
                <a:latin typeface="Calibri"/>
              </a:rPr>
              <a:t>▸ </a:t>
            </a:r>
            <a:r>
              <a:rPr sz="1100" b="1">
                <a:solidFill>
                  <a:srgbClr val="BBBBCC"/>
                </a:solidFill>
                <a:latin typeface="Calibri"/>
              </a:rPr>
              <a:t>LLMs can't verify: </a:t>
            </a:r>
            <a:r>
              <a:rPr sz="1100">
                <a:solidFill>
                  <a:srgbClr val="BBBBCC"/>
                </a:solidFill>
                <a:latin typeface="Calibri"/>
              </a:rPr>
              <a:t>no way to know if a generated puzzle is actually solvable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E94560"/>
                </a:solidFill>
                <a:latin typeface="Calibri"/>
              </a:rPr>
              <a:t>▸ </a:t>
            </a:r>
            <a:r>
              <a:rPr sz="1100" b="1">
                <a:solidFill>
                  <a:srgbClr val="BBBBCC"/>
                </a:solidFill>
                <a:latin typeface="Calibri"/>
              </a:rPr>
              <a:t>Slide physics: </a:t>
            </a:r>
            <a:r>
              <a:rPr sz="1100">
                <a:solidFill>
                  <a:srgbClr val="BBBBCC"/>
                </a:solidFill>
                <a:latin typeface="Calibri"/>
              </a:rPr>
              <a:t>LLMs achieve only 30% solvability on ice-puzzle mechanics alone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40480" y="914400"/>
            <a:ext cx="4297680" cy="246888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977640" y="960120"/>
            <a:ext cx="4297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D2FF"/>
                </a:solidFill>
                <a:latin typeface="Calibri"/>
              </a:defRPr>
            </a:pPr>
            <a:r>
              <a:t>APPROACH: 5-AGENT PIPELINE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977640" y="1234440"/>
            <a:ext cx="1645920" cy="254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3931920" y="1371600"/>
            <a:ext cx="749808" cy="548640"/>
          </a:xfrm>
          <a:prstGeom prst="round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700" b="1">
                <a:solidFill>
                  <a:srgbClr val="FFFFFF"/>
                </a:solidFill>
                <a:latin typeface="Calibri"/>
              </a:defRPr>
            </a:pPr>
            <a:r>
              <a:t>Game</a:t>
            </a:r>
            <a:br/>
            <a:r>
              <a:t>Designer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681728" y="1536192"/>
            <a:ext cx="91440" cy="164592"/>
          </a:xfrm>
          <a:prstGeom prst="rightArrow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4773168" y="1371600"/>
            <a:ext cx="749808" cy="548640"/>
          </a:xfrm>
          <a:prstGeom prst="round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700" b="1">
                <a:solidFill>
                  <a:srgbClr val="FFFFFF"/>
                </a:solidFill>
                <a:latin typeface="Calibri"/>
              </a:defRPr>
            </a:pPr>
            <a:r>
              <a:t>Level</a:t>
            </a:r>
            <a:br/>
            <a:r>
              <a:t>Designer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5522976" y="1536192"/>
            <a:ext cx="91440" cy="164592"/>
          </a:xfrm>
          <a:prstGeom prst="rightArrow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5614416" y="1371600"/>
            <a:ext cx="749808" cy="548640"/>
          </a:xfrm>
          <a:prstGeom prst="roundRect">
            <a:avLst/>
          </a:prstGeom>
          <a:solidFill>
            <a:srgbClr val="545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700" b="1">
                <a:solidFill>
                  <a:srgbClr val="FFFFFF"/>
                </a:solidFill>
                <a:latin typeface="Calibri"/>
              </a:defRPr>
            </a:pPr>
            <a:r>
              <a:t>Developer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6364224" y="1536192"/>
            <a:ext cx="91440" cy="164592"/>
          </a:xfrm>
          <a:prstGeom prst="rightArrow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6455664" y="1371600"/>
            <a:ext cx="749808" cy="548640"/>
          </a:xfrm>
          <a:prstGeom prst="roundRect">
            <a:avLst/>
          </a:prstGeom>
          <a:solidFill>
            <a:srgbClr val="545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700" b="1">
                <a:solidFill>
                  <a:srgbClr val="FFFFFF"/>
                </a:solidFill>
                <a:latin typeface="Calibri"/>
              </a:defRPr>
            </a:pPr>
            <a:r>
              <a:t>QA Tester</a:t>
            </a:r>
            <a:br/>
            <a:r>
              <a:t>(BFS)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7205472" y="1536192"/>
            <a:ext cx="91440" cy="164592"/>
          </a:xfrm>
          <a:prstGeom prst="rightArrow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7296912" y="1371600"/>
            <a:ext cx="749808" cy="548640"/>
          </a:xfrm>
          <a:prstGeom prst="round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700" b="1">
                <a:solidFill>
                  <a:srgbClr val="FFFFFF"/>
                </a:solidFill>
                <a:latin typeface="Calibri"/>
              </a:defRPr>
            </a:pPr>
            <a:r>
              <a:t>Debugger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77640" y="2057400"/>
            <a:ext cx="40233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00">
                <a:solidFill>
                  <a:srgbClr val="00D2FF"/>
                </a:solidFill>
                <a:latin typeface="Calibri"/>
              </a:rPr>
              <a:t>▸ </a:t>
            </a:r>
            <a:r>
              <a:rPr sz="1000" b="1">
                <a:solidFill>
                  <a:srgbClr val="BBBBCC"/>
                </a:solidFill>
                <a:latin typeface="Calibri"/>
              </a:rPr>
              <a:t>Design Layer: </a:t>
            </a:r>
            <a:r>
              <a:rPr sz="1000">
                <a:solidFill>
                  <a:srgbClr val="BBBBCC"/>
                </a:solidFill>
                <a:latin typeface="Calibri"/>
              </a:rPr>
              <a:t>LLM generates concepts &amp; layouts (creative)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00D2FF"/>
                </a:solidFill>
                <a:latin typeface="Calibri"/>
              </a:rPr>
              <a:t>▸ </a:t>
            </a:r>
            <a:r>
              <a:rPr sz="1000" b="1">
                <a:solidFill>
                  <a:srgbClr val="BBBBCC"/>
                </a:solidFill>
                <a:latin typeface="Calibri"/>
              </a:rPr>
              <a:t>Implementation Layer: </a:t>
            </a:r>
            <a:r>
              <a:rPr sz="1000">
                <a:solidFill>
                  <a:srgbClr val="BBBBCC"/>
                </a:solidFill>
                <a:latin typeface="Calibri"/>
              </a:rPr>
              <a:t>BFS solver verifies, deterministic routing, debug loop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00D2FF"/>
                </a:solidFill>
                <a:latin typeface="Calibri"/>
              </a:rPr>
              <a:t>▸ </a:t>
            </a:r>
            <a:r>
              <a:rPr sz="1000" b="1">
                <a:solidFill>
                  <a:srgbClr val="BBBBCC"/>
                </a:solidFill>
                <a:latin typeface="Calibri"/>
              </a:rPr>
              <a:t>Principle: </a:t>
            </a:r>
            <a:r>
              <a:rPr sz="1000">
                <a:solidFill>
                  <a:srgbClr val="BBBBCC"/>
                </a:solidFill>
                <a:latin typeface="Calibri"/>
              </a:rPr>
              <a:t>deterministic where possible, LLM where necessary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321040" y="914400"/>
            <a:ext cx="3474720" cy="246888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458200" y="96012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ECC71"/>
                </a:solidFill>
                <a:latin typeface="Calibri"/>
              </a:defRPr>
            </a:pPr>
            <a:r>
              <a:t>RESULTS (4 LIVE RUNS)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458200" y="1234440"/>
            <a:ext cx="1371600" cy="2540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458200" y="1371600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0D2FF"/>
                </a:solidFill>
                <a:latin typeface="Calibri"/>
              </a:defRPr>
            </a:pPr>
            <a:r>
              <a:t>82%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58200" y="1828800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8888AA"/>
                </a:solidFill>
                <a:latin typeface="Calibri"/>
              </a:defRPr>
            </a:pPr>
            <a:r>
              <a:t>overall</a:t>
            </a:r>
            <a:br/>
            <a:r>
              <a:t>solvability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55480" y="1371600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2ECC71"/>
                </a:solidFill>
                <a:latin typeface="Calibri"/>
              </a:defRPr>
            </a:pPr>
            <a:r>
              <a:t>90%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555480" y="1828800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8888AA"/>
                </a:solidFill>
                <a:latin typeface="Calibri"/>
              </a:defRPr>
            </a:pPr>
            <a:r>
              <a:t>push</a:t>
            </a:r>
            <a:br/>
            <a:r>
              <a:t>levels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52760" y="1371600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39C12"/>
                </a:solidFill>
                <a:latin typeface="Calibri"/>
              </a:defRPr>
            </a:pPr>
            <a:r>
              <a:t>71%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52760" y="1828800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8888AA"/>
                </a:solidFill>
                <a:latin typeface="Calibri"/>
              </a:defRPr>
            </a:pPr>
            <a:r>
              <a:t>slide</a:t>
            </a:r>
            <a:br/>
            <a:r>
              <a:t>levels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37744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00">
                <a:solidFill>
                  <a:srgbClr val="00D2FF"/>
                </a:solidFill>
                <a:latin typeface="Calibri"/>
              </a:rPr>
              <a:t>▸ </a:t>
            </a:r>
            <a:r>
              <a:rPr sz="1000" b="1">
                <a:solidFill>
                  <a:srgbClr val="BBBBCC"/>
                </a:solidFill>
                <a:latin typeface="Calibri"/>
              </a:rPr>
              <a:t>100% </a:t>
            </a:r>
            <a:r>
              <a:rPr sz="1000">
                <a:solidFill>
                  <a:srgbClr val="BBBBCC"/>
                </a:solidFill>
                <a:latin typeface="Calibri"/>
              </a:rPr>
              <a:t>pipeline completion  · 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D2FF"/>
                </a:solidFill>
                <a:latin typeface="Calibri"/>
              </a:rPr>
              <a:t>▸ </a:t>
            </a:r>
            <a:r>
              <a:rPr sz="1000" b="1">
                <a:solidFill>
                  <a:srgbClr val="BBBBCC"/>
                </a:solidFill>
                <a:latin typeface="Calibri"/>
              </a:rPr>
              <a:t>6,448 </a:t>
            </a:r>
            <a:r>
              <a:rPr sz="1000">
                <a:solidFill>
                  <a:srgbClr val="BBBBCC"/>
                </a:solidFill>
                <a:latin typeface="Calibri"/>
              </a:rPr>
              <a:t>mean tokens/run  ·  30.9s avg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65760" y="3566160"/>
            <a:ext cx="3291840" cy="301752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502920" y="361188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39C12"/>
                </a:solidFill>
                <a:latin typeface="Calibri"/>
              </a:defRPr>
            </a:pPr>
            <a:r>
              <a:t>BASELINE COMPARISON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02920" y="3886200"/>
            <a:ext cx="1463040" cy="2540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38" name="Table 37"/>
          <p:cNvGraphicFramePr>
            <a:graphicFrameLocks noGrp="1"/>
          </p:cNvGraphicFramePr>
          <p:nvPr/>
        </p:nvGraphicFramePr>
        <p:xfrm>
          <a:off x="502920" y="4023360"/>
          <a:ext cx="301752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39C1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A1A2E"/>
                          </a:solidFill>
                          <a:latin typeface="Calibri"/>
                        </a:rPr>
                        <a:t>Single LLM</a:t>
                      </a:r>
                    </a:p>
                  </a:txBody>
                  <a:tcPr anchor="ctr">
                    <a:solidFill>
                      <a:srgbClr val="F39C1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A1A2E"/>
                          </a:solidFill>
                          <a:latin typeface="Calibri"/>
                        </a:rPr>
                        <a:t>Pipeline</a:t>
                      </a:r>
                    </a:p>
                  </a:txBody>
                  <a:tcPr anchor="ctr">
                    <a:solidFill>
                      <a:srgbClr val="F39C1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Push</a:t>
                      </a:r>
                    </a:p>
                  </a:txBody>
                  <a:tcPr anchor="ctr"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anchor="ctr"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90%</a:t>
                      </a:r>
                    </a:p>
                  </a:txBody>
                  <a:tcPr anchor="ctr">
                    <a:solidFill>
                      <a:srgbClr val="1621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Slide</a:t>
                      </a:r>
                    </a:p>
                  </a:txBody>
                  <a:tcPr anchor="ctr">
                    <a:solidFill>
                      <a:srgbClr val="1C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30%</a:t>
                      </a:r>
                    </a:p>
                  </a:txBody>
                  <a:tcPr anchor="ctr">
                    <a:solidFill>
                      <a:srgbClr val="1C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2ECC71"/>
                          </a:solidFill>
                          <a:latin typeface="Calibri"/>
                        </a:rPr>
                        <a:t>71%</a:t>
                      </a:r>
                    </a:p>
                  </a:txBody>
                  <a:tcPr anchor="ctr">
                    <a:solidFill>
                      <a:srgbClr val="1C2A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Overall</a:t>
                      </a:r>
                    </a:p>
                  </a:txBody>
                  <a:tcPr anchor="ctr"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65%</a:t>
                      </a:r>
                    </a:p>
                  </a:txBody>
                  <a:tcPr anchor="ctr"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82%</a:t>
                      </a:r>
                    </a:p>
                  </a:txBody>
                  <a:tcPr anchor="ctr">
                    <a:solidFill>
                      <a:srgbClr val="1621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Verified?</a:t>
                      </a:r>
                    </a:p>
                  </a:txBody>
                  <a:tcPr anchor="ctr">
                    <a:solidFill>
                      <a:srgbClr val="1C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anchor="ctr">
                    <a:solidFill>
                      <a:srgbClr val="1C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Yes (BFS)</a:t>
                      </a:r>
                    </a:p>
                  </a:txBody>
                  <a:tcPr anchor="ctr">
                    <a:solidFill>
                      <a:srgbClr val="1C2A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9" name="TextBox 38"/>
          <p:cNvSpPr txBox="1"/>
          <p:nvPr/>
        </p:nvSpPr>
        <p:spPr>
          <a:xfrm>
            <a:off x="502920" y="5532120"/>
            <a:ext cx="3017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BBBCC"/>
                </a:solidFill>
                <a:latin typeface="Calibri"/>
              </a:defRPr>
            </a:pPr>
            <a:r>
              <a:t>Debug loop more than doubles slide</a:t>
            </a:r>
            <a:br/>
            <a:r>
              <a:t>solvability: 30% → 71% (+41 pp).</a:t>
            </a:r>
            <a:br/>
            <a:r>
              <a:t>5x token cost buys verified correctness.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840480" y="3566160"/>
            <a:ext cx="4297680" cy="301752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3977640" y="3611880"/>
            <a:ext cx="4297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D2FF"/>
                </a:solidFill>
                <a:latin typeface="Calibri"/>
              </a:defRPr>
            </a:pPr>
            <a:r>
              <a:t>KEY INSIGHTS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977640" y="3886200"/>
            <a:ext cx="914400" cy="254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3977640" y="4023360"/>
            <a:ext cx="40233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>
                <a:solidFill>
                  <a:srgbClr val="00D2FF"/>
                </a:solidFill>
                <a:latin typeface="Calibri"/>
              </a:rPr>
              <a:t>▸ </a:t>
            </a:r>
            <a:r>
              <a:rPr sz="1000" b="1">
                <a:solidFill>
                  <a:srgbClr val="BBBBCC"/>
                </a:solidFill>
                <a:latin typeface="Calibri"/>
              </a:rPr>
              <a:t>Multi-agent failures are emergent. </a:t>
            </a:r>
            <a:r>
              <a:rPr sz="1000">
                <a:solidFill>
                  <a:srgbClr val="BBBBCC"/>
                </a:solidFill>
                <a:latin typeface="Calibri"/>
              </a:rPr>
              <a:t>Each agent works in isolation; bugs appear in how they share state and respond to each other (F-004, F-006).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0D2FF"/>
                </a:solidFill>
                <a:latin typeface="Calibri"/>
              </a:rPr>
              <a:t>▸ </a:t>
            </a:r>
            <a:r>
              <a:rPr sz="1000" b="1">
                <a:solidFill>
                  <a:srgbClr val="BBBBCC"/>
                </a:solidFill>
                <a:latin typeface="Calibri"/>
              </a:rPr>
              <a:t>Silent failure &gt; crash. </a:t>
            </a:r>
            <a:r>
              <a:rPr sz="1000">
                <a:solidFill>
                  <a:srgbClr val="BBBBCC"/>
                </a:solidFill>
                <a:latin typeface="Calibri"/>
              </a:rPr>
              <a:t>except Exception silently broke the feedback loop for 3 cycles. Explicit error handling is essential (F-004).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0D2FF"/>
                </a:solidFill>
                <a:latin typeface="Calibri"/>
              </a:rPr>
              <a:t>▸ </a:t>
            </a:r>
            <a:r>
              <a:rPr sz="1000" b="1">
                <a:solidFill>
                  <a:srgbClr val="BBBBCC"/>
                </a:solidFill>
                <a:latin typeface="Calibri"/>
              </a:rPr>
              <a:t>Not all failures are equal. </a:t>
            </a:r>
            <a:r>
              <a:rPr sz="1000">
                <a:solidFill>
                  <a:srgbClr val="BBBBCC"/>
                </a:solidFill>
                <a:latin typeface="Calibri"/>
              </a:rPr>
              <a:t>Treating cosmetic issues (diversity) same as critical issues (solvability) wastes bounded iteration budget (F-005).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0D2FF"/>
                </a:solidFill>
                <a:latin typeface="Calibri"/>
              </a:rPr>
              <a:t>▸ </a:t>
            </a:r>
            <a:r>
              <a:rPr sz="1000" b="1">
                <a:solidFill>
                  <a:srgbClr val="BBBBCC"/>
                </a:solidFill>
                <a:latin typeface="Calibri"/>
              </a:rPr>
              <a:t>Verification beats prompting. </a:t>
            </a:r>
            <a:r>
              <a:rPr sz="1000">
                <a:solidFill>
                  <a:srgbClr val="BBBBCC"/>
                </a:solidFill>
                <a:latin typeface="Calibri"/>
              </a:rPr>
              <a:t>Slide solvability: prompt improvement alone = 30%. Add BFS solver + debug loop = 71%. Deterministic tools compensate for LLM weaknesses.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0D2FF"/>
                </a:solidFill>
                <a:latin typeface="Calibri"/>
              </a:rPr>
              <a:t>▸ </a:t>
            </a:r>
            <a:r>
              <a:rPr sz="1000" b="1">
                <a:solidFill>
                  <a:srgbClr val="BBBBCC"/>
                </a:solidFill>
                <a:latin typeface="Calibri"/>
              </a:rPr>
              <a:t>Observability pays for itself. </a:t>
            </a:r>
            <a:r>
              <a:rPr sz="1000">
                <a:solidFill>
                  <a:srgbClr val="BBBBCC"/>
                </a:solidFill>
                <a:latin typeface="Calibri"/>
              </a:rPr>
              <a:t>Append-only trace log made it possible to diagnose every failure. Without it, silent bugs would be invisible.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321040" y="3566160"/>
            <a:ext cx="3474720" cy="301752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8458200" y="361188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ECC71"/>
                </a:solidFill>
                <a:latin typeface="Calibri"/>
              </a:defRPr>
            </a:pPr>
            <a:r>
              <a:t>RECOMMENDATIONS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458200" y="3886200"/>
            <a:ext cx="1371600" cy="2540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8458200" y="4023360"/>
            <a:ext cx="32004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>
                <a:solidFill>
                  <a:srgbClr val="2ECC71"/>
                </a:solidFill>
                <a:latin typeface="Calibri"/>
              </a:rPr>
              <a:t>▸ </a:t>
            </a:r>
            <a:r>
              <a:rPr sz="1000" b="1">
                <a:solidFill>
                  <a:srgbClr val="BBBBCC"/>
                </a:solidFill>
                <a:latin typeface="Calibri"/>
              </a:rPr>
              <a:t>Severity-aware routing: </a:t>
            </a:r>
            <a:r>
              <a:rPr sz="1000">
                <a:solidFill>
                  <a:srgbClr val="BBBBCC"/>
                </a:solidFill>
                <a:latin typeface="Calibri"/>
              </a:rPr>
              <a:t>allocate debug cycles by failure severity, not equally. Solvability first, cosmetics last.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2ECC71"/>
                </a:solidFill>
                <a:latin typeface="Calibri"/>
              </a:rPr>
              <a:t>▸ </a:t>
            </a:r>
            <a:r>
              <a:rPr sz="1000" b="1">
                <a:solidFill>
                  <a:srgbClr val="BBBBCC"/>
                </a:solidFill>
                <a:latin typeface="Calibri"/>
              </a:rPr>
              <a:t>Solver-guided generation: </a:t>
            </a:r>
            <a:r>
              <a:rPr sz="1000">
                <a:solidFill>
                  <a:srgbClr val="BBBBCC"/>
                </a:solidFill>
                <a:latin typeface="Calibri"/>
              </a:rPr>
              <a:t>feed solver metrics (deadlock locations, states explored) to Level Designer during initial design, not just repair.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2ECC71"/>
                </a:solidFill>
                <a:latin typeface="Calibri"/>
              </a:rPr>
              <a:t>▸ </a:t>
            </a:r>
            <a:r>
              <a:rPr sz="1000" b="1">
                <a:solidFill>
                  <a:srgbClr val="BBBBCC"/>
                </a:solidFill>
                <a:latin typeface="Calibri"/>
              </a:rPr>
              <a:t>Separate decision state from history: </a:t>
            </a:r>
            <a:r>
              <a:rPr sz="1000">
                <a:solidFill>
                  <a:srgbClr val="BBBBCC"/>
                </a:solidFill>
                <a:latin typeface="Calibri"/>
              </a:rPr>
              <a:t>append-only logs for observability; reset-per-cycle fields for agent decisions.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2ECC71"/>
                </a:solidFill>
                <a:latin typeface="Calibri"/>
              </a:rPr>
              <a:t>▸ </a:t>
            </a:r>
            <a:r>
              <a:rPr sz="1000" b="1">
                <a:solidFill>
                  <a:srgbClr val="BBBBCC"/>
                </a:solidFill>
                <a:latin typeface="Calibri"/>
              </a:rPr>
              <a:t>Human-in-the-loop gates: </a:t>
            </a:r>
            <a:r>
              <a:rPr sz="1000">
                <a:solidFill>
                  <a:srgbClr val="BBBBCC"/>
                </a:solidFill>
                <a:latin typeface="Calibri"/>
              </a:rPr>
              <a:t>routing override + level editor in Streamlit dashboard for production use.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2ECC71"/>
                </a:solidFill>
                <a:latin typeface="Calibri"/>
              </a:rPr>
              <a:t>▸ </a:t>
            </a:r>
            <a:r>
              <a:rPr sz="1000" b="1">
                <a:solidFill>
                  <a:srgbClr val="BBBBCC"/>
                </a:solidFill>
                <a:latin typeface="Calibri"/>
              </a:rPr>
              <a:t>Extend mechanics: </a:t>
            </a:r>
            <a:r>
              <a:rPr sz="1000">
                <a:solidFill>
                  <a:srgbClr val="BBBBCC"/>
                </a:solidFill>
                <a:latin typeface="Calibri"/>
              </a:rPr>
              <a:t>add switch/teleport puzzles. Same architecture scales -- only solver and template need updates.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10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457200" y="6693408"/>
            <a:ext cx="10972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8888AA"/>
                </a:solidFill>
                <a:latin typeface="Calibri"/>
              </a:defRPr>
            </a:pPr>
            <a:r>
              <a:t>8 failures documented  ·  11 test cases  ·  4 live pipeline runs  ·  Baseline comparison  ·  BFS solver ground truth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475</Words>
  <Application>Microsoft Macintosh PowerPoint</Application>
  <PresentationFormat>宽屏</PresentationFormat>
  <Paragraphs>55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Yixiao Li</cp:lastModifiedBy>
  <cp:revision>2</cp:revision>
  <dcterms:created xsi:type="dcterms:W3CDTF">2013-01-27T09:14:16Z</dcterms:created>
  <dcterms:modified xsi:type="dcterms:W3CDTF">2026-04-15T02:14:37Z</dcterms:modified>
  <cp:category/>
</cp:coreProperties>
</file>