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9"/>
  </p:normalViewPr>
  <p:slideViewPr>
    <p:cSldViewPr snapToGrid="0" snapToObjects="1">
      <p:cViewPr>
        <p:scale>
          <a:sx n="112" d="100"/>
          <a:sy n="112" d="100"/>
        </p:scale>
        <p:origin x="48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PuzzleForge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08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rPr dirty="0"/>
              <a:t>Agentic Puzzle Game Design &amp;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AA"/>
                </a:solidFill>
                <a:latin typeface="Calibri"/>
              </a:defRPr>
            </a:pPr>
            <a:r>
              <a:t>Yixiao Li  ·  Kaizhen Tan  ·  Hanzhe Hong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93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94-815 Agentic Systems Studio  ·  CMU Heinz  ·  Track 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749808"/>
            <a:ext cx="114300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5760" y="914400"/>
            <a:ext cx="3291840" cy="2468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94560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09728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dirty="0">
                <a:solidFill>
                  <a:srgbClr val="E94560"/>
                </a:solidFill>
                <a:latin typeface="Calibri"/>
              </a:rPr>
              <a:t>▸ </a:t>
            </a:r>
            <a:r>
              <a:rPr sz="1100" b="1" dirty="0">
                <a:solidFill>
                  <a:srgbClr val="BBBBCC"/>
                </a:solidFill>
                <a:latin typeface="Calibri"/>
              </a:rPr>
              <a:t>Creative + correct: </a:t>
            </a:r>
            <a:r>
              <a:rPr sz="1100" dirty="0">
                <a:solidFill>
                  <a:srgbClr val="BBBBCC"/>
                </a:solidFill>
                <a:latin typeface="Calibri"/>
              </a:rPr>
              <a:t>designing solvable puzzles requires both -- LLMs can only do one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E94560"/>
                </a:solidFill>
                <a:latin typeface="Calibri"/>
              </a:rPr>
              <a:t>▸ </a:t>
            </a:r>
            <a:r>
              <a:rPr sz="1100" b="1" dirty="0">
                <a:solidFill>
                  <a:srgbClr val="BBBBCC"/>
                </a:solidFill>
                <a:latin typeface="Calibri"/>
              </a:rPr>
              <a:t>LLMs can't verify: </a:t>
            </a:r>
            <a:r>
              <a:rPr sz="1100" dirty="0">
                <a:solidFill>
                  <a:srgbClr val="BBBBCC"/>
                </a:solidFill>
                <a:latin typeface="Calibri"/>
              </a:rPr>
              <a:t>no way to know if a generated puzzle is actually solvable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E94560"/>
                </a:solidFill>
                <a:latin typeface="Calibri"/>
              </a:rPr>
              <a:t>▸ </a:t>
            </a:r>
            <a:r>
              <a:rPr sz="1100" b="1" dirty="0">
                <a:solidFill>
                  <a:srgbClr val="BBBBCC"/>
                </a:solidFill>
                <a:latin typeface="Calibri"/>
              </a:rPr>
              <a:t>Slide physics: </a:t>
            </a:r>
            <a:r>
              <a:rPr sz="1100" dirty="0">
                <a:solidFill>
                  <a:srgbClr val="BBBBCC"/>
                </a:solidFill>
                <a:latin typeface="Calibri"/>
              </a:rPr>
              <a:t>LLMs achieve only 30% solvability on ice-puzzle mechanics alone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914400"/>
            <a:ext cx="4297680" cy="2468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77640" y="96012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t>APPROACH: 5-AGENT PIPELINE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40" y="1234440"/>
            <a:ext cx="164592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931920" y="1371600"/>
            <a:ext cx="749808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Game</a:t>
            </a:r>
            <a:br/>
            <a:r>
              <a:t>Designer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81728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73168" y="1371600"/>
            <a:ext cx="749808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Level</a:t>
            </a:r>
            <a:br/>
            <a:r>
              <a:t>Designer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522976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614416" y="1371600"/>
            <a:ext cx="749808" cy="5486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364224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55664" y="1371600"/>
            <a:ext cx="749808" cy="5486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QA Tester</a:t>
            </a:r>
            <a:br/>
            <a:r>
              <a:t>(BFS)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5472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96912" y="1371600"/>
            <a:ext cx="749808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Debugger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05740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Design Layer: </a:t>
            </a:r>
            <a:r>
              <a:rPr sz="1000">
                <a:solidFill>
                  <a:srgbClr val="BBBBCC"/>
                </a:solidFill>
                <a:latin typeface="Calibri"/>
              </a:rPr>
              <a:t>LLM generates concepts &amp; layouts (creative)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Implementation Layer: </a:t>
            </a:r>
            <a:r>
              <a:rPr sz="1000">
                <a:solidFill>
                  <a:srgbClr val="BBBBCC"/>
                </a:solidFill>
                <a:latin typeface="Calibri"/>
              </a:rPr>
              <a:t>BFS solver verifies, deterministic routing, debug loop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Principle: </a:t>
            </a:r>
            <a:r>
              <a:rPr sz="1000">
                <a:solidFill>
                  <a:srgbClr val="BBBBCC"/>
                </a:solidFill>
                <a:latin typeface="Calibri"/>
              </a:rPr>
              <a:t>deterministic where possible, LLM where necessary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914400"/>
            <a:ext cx="3474720" cy="2468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58200" y="9601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RESULTS (4 LIVE RUNS)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1234440"/>
            <a:ext cx="13716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58200" y="1371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18288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overall</a:t>
            </a:r>
            <a:br/>
            <a:r>
              <a:t>solvability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1371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18288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push</a:t>
            </a:r>
            <a:br/>
            <a:r>
              <a:t>levels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1371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39C12"/>
                </a:solidFill>
                <a:latin typeface="Calibri"/>
              </a:defRPr>
            </a:pPr>
            <a:r>
              <a:t>71%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18288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slide</a:t>
            </a:r>
            <a:br/>
            <a:r>
              <a:t>levels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100% </a:t>
            </a:r>
            <a:r>
              <a:rPr sz="1000">
                <a:solidFill>
                  <a:srgbClr val="BBBBCC"/>
                </a:solidFill>
                <a:latin typeface="Calibri"/>
              </a:rPr>
              <a:t>pipeline completion  · 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6,448 </a:t>
            </a:r>
            <a:r>
              <a:rPr sz="1000">
                <a:solidFill>
                  <a:srgbClr val="BBBBCC"/>
                </a:solidFill>
                <a:latin typeface="Calibri"/>
              </a:rPr>
              <a:t>mean tokens/run  ·  30.9s avg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566160"/>
            <a:ext cx="3291840" cy="3017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3611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BASELINE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886200"/>
            <a:ext cx="1463040" cy="25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02920" y="4023360"/>
          <a:ext cx="3017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2E"/>
                          </a:solidFill>
                          <a:latin typeface="Calibri"/>
                        </a:rPr>
                        <a:t>Single LLM</a:t>
                      </a:r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2E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ECC71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Verified?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Yes (BFS)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02920" y="5532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Debug loop more than doubles slide</a:t>
            </a:r>
            <a:br/>
            <a:r>
              <a:t>solvability: 30% → 71% (+41 pp).</a:t>
            </a:r>
            <a:br/>
            <a:r>
              <a:t>5x token cost buys verified correctness.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40480" y="3566160"/>
            <a:ext cx="4297680" cy="3017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977640" y="36118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40" y="3886200"/>
            <a:ext cx="9144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977640" y="4023360"/>
            <a:ext cx="4023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 dirty="0">
                <a:solidFill>
                  <a:srgbClr val="BBBBCC"/>
                </a:solidFill>
                <a:latin typeface="Calibri"/>
              </a:rPr>
              <a:t>Multi-agent failures are emergent. </a:t>
            </a:r>
            <a:r>
              <a:rPr sz="1000" dirty="0">
                <a:solidFill>
                  <a:srgbClr val="BBBBCC"/>
                </a:solidFill>
                <a:latin typeface="Calibri"/>
              </a:rPr>
              <a:t>Each agent works in isolation; bugs appear in how they share state and respond to each other (F-004, F-006).</a:t>
            </a:r>
          </a:p>
          <a:p>
            <a:pPr>
              <a:spcAft>
                <a:spcPts val="300"/>
              </a:spcAft>
            </a:pPr>
            <a:r>
              <a:rPr sz="10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 dirty="0">
                <a:solidFill>
                  <a:srgbClr val="BBBBCC"/>
                </a:solidFill>
                <a:latin typeface="Calibri"/>
              </a:rPr>
              <a:t>Silent failure &gt; crash. </a:t>
            </a:r>
            <a:r>
              <a:rPr sz="1000" dirty="0">
                <a:solidFill>
                  <a:srgbClr val="BBBBCC"/>
                </a:solidFill>
                <a:latin typeface="Calibri"/>
              </a:rPr>
              <a:t>except Exception silently broke the feedback loop for 3 cycles. Explicit error handling is essential (F-004).</a:t>
            </a:r>
          </a:p>
          <a:p>
            <a:pPr>
              <a:spcAft>
                <a:spcPts val="300"/>
              </a:spcAft>
            </a:pPr>
            <a:r>
              <a:rPr sz="10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 dirty="0">
                <a:solidFill>
                  <a:srgbClr val="BBBBCC"/>
                </a:solidFill>
                <a:latin typeface="Calibri"/>
              </a:rPr>
              <a:t>Not all failures are equal. </a:t>
            </a:r>
            <a:r>
              <a:rPr sz="1000" dirty="0">
                <a:solidFill>
                  <a:srgbClr val="BBBBCC"/>
                </a:solidFill>
                <a:latin typeface="Calibri"/>
              </a:rPr>
              <a:t>Treating cosmetic issues (diversity) same as critical issues (solvability) wastes bounded iteration budget (F-005).</a:t>
            </a:r>
          </a:p>
          <a:p>
            <a:pPr>
              <a:spcAft>
                <a:spcPts val="300"/>
              </a:spcAft>
            </a:pPr>
            <a:r>
              <a:rPr sz="10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 dirty="0">
                <a:solidFill>
                  <a:srgbClr val="BBBBCC"/>
                </a:solidFill>
                <a:latin typeface="Calibri"/>
              </a:rPr>
              <a:t>Verification beats prompting. </a:t>
            </a:r>
            <a:r>
              <a:rPr sz="1000" dirty="0">
                <a:solidFill>
                  <a:srgbClr val="BBBBCC"/>
                </a:solidFill>
                <a:latin typeface="Calibri"/>
              </a:rPr>
              <a:t>Slide solvability: prompt improvement alone = 30%. Add BFS solver + debug loop = 71%. Deterministic tools compensate for LLM weaknesses.</a:t>
            </a:r>
          </a:p>
          <a:p>
            <a:pPr>
              <a:spcAft>
                <a:spcPts val="300"/>
              </a:spcAft>
            </a:pPr>
            <a:r>
              <a:rPr sz="1000" dirty="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 dirty="0">
                <a:solidFill>
                  <a:srgbClr val="BBBBCC"/>
                </a:solidFill>
                <a:latin typeface="Calibri"/>
              </a:rPr>
              <a:t>Observability pays for itself. </a:t>
            </a:r>
            <a:r>
              <a:rPr sz="1000" dirty="0">
                <a:solidFill>
                  <a:srgbClr val="BBBBCC"/>
                </a:solidFill>
                <a:latin typeface="Calibri"/>
              </a:rPr>
              <a:t>Append-only trace log made it possible to diagnose every failure. Without it, silent bugs would be invisible.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1040" y="3566160"/>
            <a:ext cx="3474720" cy="3017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3611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3886200"/>
            <a:ext cx="13716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58200" y="40233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Severity-aware routing: </a:t>
            </a:r>
            <a:r>
              <a:rPr sz="1000">
                <a:solidFill>
                  <a:srgbClr val="BBBBCC"/>
                </a:solidFill>
                <a:latin typeface="Calibri"/>
              </a:rPr>
              <a:t>allocate debug cycles by failure severity, not equally. Solvability first, cosmetics last.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Solver-guided generation: </a:t>
            </a:r>
            <a:r>
              <a:rPr sz="1000">
                <a:solidFill>
                  <a:srgbClr val="BBBBCC"/>
                </a:solidFill>
                <a:latin typeface="Calibri"/>
              </a:rPr>
              <a:t>feed solver metrics (deadlock locations, states explored) to Level Designer during initial design, not just repair.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Separate decision state from history: </a:t>
            </a:r>
            <a:r>
              <a:rPr sz="1000">
                <a:solidFill>
                  <a:srgbClr val="BBBBCC"/>
                </a:solidFill>
                <a:latin typeface="Calibri"/>
              </a:rPr>
              <a:t>append-only logs for observability; reset-per-cycle fields for agent decisions.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Human-in-the-loop gates: </a:t>
            </a:r>
            <a:r>
              <a:rPr sz="1000">
                <a:solidFill>
                  <a:srgbClr val="BBBBCC"/>
                </a:solidFill>
                <a:latin typeface="Calibri"/>
              </a:rPr>
              <a:t>routing override + level editor in Streamlit dashboard for production use.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Extend mechanics: </a:t>
            </a:r>
            <a:r>
              <a:rPr sz="1000">
                <a:solidFill>
                  <a:srgbClr val="BBBBCC"/>
                </a:solidFill>
                <a:latin typeface="Calibri"/>
              </a:rPr>
              <a:t>add switch/teleport puzzles. Same architecture scales -- only solver and template need updates.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0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69340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8 failures documented  ·  11 test cases  ·  4 live pipeline runs  ·  Baseline comparison  ·  BFS solver ground truth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902B135-5670-4BD9-E819-148C3AA3A31C}"/>
              </a:ext>
            </a:extLst>
          </p:cNvPr>
          <p:cNvSpPr txBox="1"/>
          <p:nvPr/>
        </p:nvSpPr>
        <p:spPr>
          <a:xfrm>
            <a:off x="354330" y="35204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475</Words>
  <Application>Microsoft Macintosh PowerPoint</Application>
  <PresentationFormat>宽屏</PresentationFormat>
  <Paragraphs>55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Yixiao Li</cp:lastModifiedBy>
  <cp:revision>5</cp:revision>
  <dcterms:created xsi:type="dcterms:W3CDTF">2013-01-27T09:14:16Z</dcterms:created>
  <dcterms:modified xsi:type="dcterms:W3CDTF">2026-04-21T03:03:50Z</dcterms:modified>
  <cp:category/>
</cp:coreProperties>
</file>